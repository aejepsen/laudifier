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Tempo (min)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A3D5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Laudo Manual</c:v>
                  </c:pt>
                  <c:pt idx="1">
                    <c:v>Com Laudifier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</c:v>
                </c:pt>
                <c:pt idx="1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A3D5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D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274320"/>
            <a:ext cx="54864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99832" y="521208"/>
            <a:ext cx="54864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0" y="914400"/>
            <a:ext cx="36576" cy="548640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1078992"/>
            <a:ext cx="402336" cy="36576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9728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Laudifier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Gerador de Laudos Médicos com Inteligência Artificial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40080" y="2834640"/>
            <a:ext cx="1691640" cy="347472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83464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🎙️ Voz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0" y="2834640"/>
            <a:ext cx="1691640" cy="347472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283464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RAG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480560" y="2834640"/>
            <a:ext cx="1691640" cy="347472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283464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Mem0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2834640"/>
            <a:ext cx="1691640" cy="347472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283464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PDF/DOCX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3429000"/>
            <a:ext cx="7772400" cy="182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520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A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para Stakeholders e Corpo Clínico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0" y="35204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— Cientista de Dados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56032"/>
          </a:xfrm>
          <a:prstGeom prst="rect">
            <a:avLst>
              <a:gd name="adj" fmla="val 14286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3D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Laudos manuais consomem tempo clínico valioso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6060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260604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0876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0574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3D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30–45 min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8640" y="24871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laudo complexo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28346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que poderia ser dedicado ao atendimento de pacientes.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46120" y="1325880"/>
            <a:ext cx="26060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46120" y="1325880"/>
            <a:ext cx="260604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50876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37560" y="20574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3D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Padronização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3337560" y="24871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inconsistente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337560" y="28346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Terminologia e estrutura variam entre profissionais e turnos.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035040" y="1325880"/>
            <a:ext cx="26060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035040" y="1325880"/>
            <a:ext cx="260604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08760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126480" y="20574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3D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Referências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6126480" y="24871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dispersas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126480" y="28346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Laudos anteriores não são aproveitados como base para novos.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57200" y="4526280"/>
            <a:ext cx="8229600" cy="29260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48640" y="45445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O Laudifier resolve os três problemas com uma solução integrada de IA.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E2A38"/>
          </a:solidFill>
          <a:ln w="12700">
            <a:solidFill>
              <a:srgbClr val="0E2A38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365760" y="48737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Laudifier — Gerador de Laudos Médicos com IA   |   Confidencial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8412480" y="48737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56032"/>
          </a:xfrm>
          <a:prstGeom prst="rect">
            <a:avLst>
              <a:gd name="adj" fmla="val 14286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3D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é o Laudifier?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5029200" cy="3200400"/>
          </a:xfrm>
          <a:prstGeom prst="rect">
            <a:avLst/>
          </a:prstGeom>
          <a:solidFill>
            <a:srgbClr val="F0FAFA"/>
          </a:solidFill>
          <a:ln w="12700">
            <a:solidFill>
              <a:srgbClr val="D1E9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64008" cy="3200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630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3D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Sistema de IA para geração assistida de laudos médicos.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057400"/>
            <a:ext cx="4663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Médico dita os achados por voz ou texto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busca laudos similares no repositório (RAG)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gera o laudo completo em segundos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Médico revisa, edita e aprova com um clique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 em PDF ou DOCX pronto para assinar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760720" y="1325880"/>
            <a:ext cx="2834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760720" y="1325880"/>
            <a:ext cx="2834640" cy="54864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0" y="1417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6E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60s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5852160" y="1874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laudo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60720" y="2404872"/>
            <a:ext cx="2834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760720" y="2404872"/>
            <a:ext cx="283464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0" y="24963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5852160" y="2953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baseado nos dados do médico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760720" y="3483864"/>
            <a:ext cx="2834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760720" y="3483864"/>
            <a:ext cx="283464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0" y="357530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5852160" y="40325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E2A38"/>
          </a:solidFill>
          <a:ln w="12700">
            <a:solidFill>
              <a:srgbClr val="0E2A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8737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Laudifier — Gerador de Laudos Médicos com IA   |   Confidencial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412480" y="48737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56032"/>
          </a:xfrm>
          <a:prstGeom prst="rect">
            <a:avLst>
              <a:gd name="adj" fmla="val 14286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3D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Fluxo completo em 5 passos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914400" cy="914400"/>
          </a:xfrm>
          <a:prstGeom prst="oval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508760"/>
            <a:ext cx="548640" cy="5486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481328" y="1261872"/>
            <a:ext cx="292608" cy="292608"/>
          </a:xfrm>
          <a:prstGeom prst="oval">
            <a:avLst/>
          </a:prstGeom>
          <a:solidFill>
            <a:srgbClr val="0A3D52"/>
          </a:solidFill>
          <a:ln w="12700">
            <a:solidFill>
              <a:srgbClr val="0A3D5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481328" y="1261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783080" y="1755648"/>
            <a:ext cx="320040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057400" y="1719072"/>
            <a:ext cx="54864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" y="23774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Ditado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65760" y="2724912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Médico fala os achados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microfone (PT-BR)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432304" y="1325880"/>
            <a:ext cx="914400" cy="914400"/>
          </a:xfrm>
          <a:prstGeom prst="oval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5184" y="1508760"/>
            <a:ext cx="548640" cy="54864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182112" y="1261872"/>
            <a:ext cx="292608" cy="292608"/>
          </a:xfrm>
          <a:prstGeom prst="oval">
            <a:avLst/>
          </a:prstGeom>
          <a:solidFill>
            <a:srgbClr val="0A3D52"/>
          </a:solidFill>
          <a:ln w="12700">
            <a:solidFill>
              <a:srgbClr val="0A3D52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182112" y="1261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483864" y="1755648"/>
            <a:ext cx="320040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758184" y="1719072"/>
            <a:ext cx="54864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066544" y="23774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RAG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2066544" y="2724912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Laudos similares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consultados no repositório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4133088" y="1325880"/>
            <a:ext cx="914400" cy="914400"/>
          </a:xfrm>
          <a:prstGeom prst="oval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5968" y="1508760"/>
            <a:ext cx="548640" cy="54864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4882896" y="1261872"/>
            <a:ext cx="292608" cy="292608"/>
          </a:xfrm>
          <a:prstGeom prst="oval">
            <a:avLst/>
          </a:prstGeom>
          <a:solidFill>
            <a:srgbClr val="0A3D52"/>
          </a:solidFill>
          <a:ln w="12700">
            <a:solidFill>
              <a:srgbClr val="0A3D52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882896" y="1261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5184648" y="1755648"/>
            <a:ext cx="320040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5458968" y="1719072"/>
            <a:ext cx="54864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3767328" y="23774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IA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3767328" y="2724912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gera o laudo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contexto personalizado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5833872" y="1325880"/>
            <a:ext cx="914400" cy="914400"/>
          </a:xfrm>
          <a:prstGeom prst="oval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6752" y="1508760"/>
            <a:ext cx="548640" cy="548640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6583680" y="1261872"/>
            <a:ext cx="292608" cy="292608"/>
          </a:xfrm>
          <a:prstGeom prst="oval">
            <a:avLst/>
          </a:prstGeom>
          <a:solidFill>
            <a:srgbClr val="0A3D52"/>
          </a:solidFill>
          <a:ln w="12700">
            <a:solidFill>
              <a:srgbClr val="0A3D52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6583680" y="1261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6885432" y="1755648"/>
            <a:ext cx="320040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7159752" y="1719072"/>
            <a:ext cx="54864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5468112" y="23774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</a:t>
            </a:r>
            <a:endParaRPr lang="en-US" sz="1300" dirty="0"/>
          </a:p>
        </p:txBody>
      </p:sp>
      <p:sp>
        <p:nvSpPr>
          <p:cNvPr id="36" name="Text 30"/>
          <p:cNvSpPr/>
          <p:nvPr/>
        </p:nvSpPr>
        <p:spPr>
          <a:xfrm>
            <a:off x="5468112" y="2724912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Médico lê, edita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aprova o laudo</a:t>
            </a:r>
            <a:endParaRPr lang="en-US" sz="1100" dirty="0"/>
          </a:p>
        </p:txBody>
      </p:sp>
      <p:sp>
        <p:nvSpPr>
          <p:cNvPr id="37" name="Shape 31"/>
          <p:cNvSpPr/>
          <p:nvPr/>
        </p:nvSpPr>
        <p:spPr>
          <a:xfrm>
            <a:off x="7534656" y="1325880"/>
            <a:ext cx="914400" cy="914400"/>
          </a:xfrm>
          <a:prstGeom prst="oval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7536" y="1508760"/>
            <a:ext cx="548640" cy="548640"/>
          </a:xfrm>
          <a:prstGeom prst="rect">
            <a:avLst/>
          </a:prstGeom>
        </p:spPr>
      </p:pic>
      <p:sp>
        <p:nvSpPr>
          <p:cNvPr id="39" name="Shape 32"/>
          <p:cNvSpPr/>
          <p:nvPr/>
        </p:nvSpPr>
        <p:spPr>
          <a:xfrm>
            <a:off x="8284464" y="1261872"/>
            <a:ext cx="292608" cy="292608"/>
          </a:xfrm>
          <a:prstGeom prst="oval">
            <a:avLst/>
          </a:prstGeom>
          <a:solidFill>
            <a:srgbClr val="0A3D52"/>
          </a:solidFill>
          <a:ln w="12700">
            <a:solidFill>
              <a:srgbClr val="0A3D52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8284464" y="1261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1" name="Text 34"/>
          <p:cNvSpPr/>
          <p:nvPr/>
        </p:nvSpPr>
        <p:spPr>
          <a:xfrm>
            <a:off x="7168896" y="23774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Exportação</a:t>
            </a:r>
            <a:endParaRPr lang="en-US" sz="1300" dirty="0"/>
          </a:p>
        </p:txBody>
      </p:sp>
      <p:sp>
        <p:nvSpPr>
          <p:cNvPr id="42" name="Text 35"/>
          <p:cNvSpPr/>
          <p:nvPr/>
        </p:nvSpPr>
        <p:spPr>
          <a:xfrm>
            <a:off x="7168896" y="2724912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em PDF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DOCX assinável</a:t>
            </a:r>
            <a:endParaRPr lang="en-US" sz="1100" dirty="0"/>
          </a:p>
        </p:txBody>
      </p:sp>
      <p:sp>
        <p:nvSpPr>
          <p:cNvPr id="43" name="Shape 36"/>
          <p:cNvSpPr/>
          <p:nvPr/>
        </p:nvSpPr>
        <p:spPr>
          <a:xfrm>
            <a:off x="457200" y="3749040"/>
            <a:ext cx="8229600" cy="502920"/>
          </a:xfrm>
          <a:prstGeom prst="rect">
            <a:avLst/>
          </a:prstGeom>
          <a:solidFill>
            <a:srgbClr val="E0F5F9"/>
          </a:solidFill>
          <a:ln w="12700">
            <a:solidFill>
              <a:srgbClr val="A5D8E6"/>
            </a:solidFill>
            <a:prstDash val="solid"/>
          </a:ln>
        </p:spPr>
      </p:sp>
      <p:sp>
        <p:nvSpPr>
          <p:cNvPr id="44" name="Text 37"/>
          <p:cNvSpPr/>
          <p:nvPr/>
        </p:nvSpPr>
        <p:spPr>
          <a:xfrm>
            <a:off x="640080" y="38404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ciclo completo — do ditado ao laudo pronto — leva menos de 60 segundos.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E2A38"/>
          </a:solidFill>
          <a:ln w="12700">
            <a:solidFill>
              <a:srgbClr val="0E2A38"/>
            </a:solidFill>
            <a:prstDash val="solid"/>
          </a:ln>
        </p:spPr>
      </p:sp>
      <p:sp>
        <p:nvSpPr>
          <p:cNvPr id="46" name="Text 39"/>
          <p:cNvSpPr/>
          <p:nvPr/>
        </p:nvSpPr>
        <p:spPr>
          <a:xfrm>
            <a:off x="365760" y="48737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Laudifier — Gerador de Laudos Médicos com IA   |   Confidencial</a:t>
            </a:r>
            <a:endParaRPr lang="en-US" sz="900" dirty="0"/>
          </a:p>
        </p:txBody>
      </p:sp>
      <p:sp>
        <p:nvSpPr>
          <p:cNvPr id="47" name="Text 40"/>
          <p:cNvSpPr/>
          <p:nvPr/>
        </p:nvSpPr>
        <p:spPr>
          <a:xfrm>
            <a:off x="8412480" y="48737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56032"/>
          </a:xfrm>
          <a:prstGeom prst="rect">
            <a:avLst>
              <a:gd name="adj" fmla="val 14286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3D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Estratégia RAG + Fallback Inteligente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840480" cy="3108960"/>
          </a:xfrm>
          <a:prstGeom prst="rect">
            <a:avLst/>
          </a:prstGeom>
          <a:solidFill>
            <a:srgbClr val="F0FAFA"/>
          </a:solidFill>
          <a:ln w="12700">
            <a:solidFill>
              <a:srgbClr val="D1E9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384048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6304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5087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RAG — Repositório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4360" y="201168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há laudos similares no repositório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(score ≥ 0.60):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4360" y="2560320"/>
            <a:ext cx="3520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vetorial no Qdrant por especialidade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estrutura e terminologia dos laudos reais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adapta ao caso atual do paciente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laudo alinhado aos padrões locais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663440" y="1325880"/>
            <a:ext cx="3840480" cy="3108960"/>
          </a:xfrm>
          <a:prstGeom prst="rect">
            <a:avLst/>
          </a:prstGeom>
          <a:solidFill>
            <a:srgbClr val="FAFAF0"/>
          </a:solidFill>
          <a:ln w="12700">
            <a:solidFill>
              <a:srgbClr val="D1E9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1325880"/>
            <a:ext cx="384048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46304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94960" y="15087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Fallback — Claude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800600" y="201168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repositório não tem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 relevantes (score &lt; 0.60):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800600" y="2560320"/>
            <a:ext cx="3520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usa conhecimento clínico base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Sinaliza explicitamente ao médico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Mantém a mesma estrutura padronizada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Laudo aprovado é re-indexado automaticamente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solidFill>
            <a:srgbClr val="E0F5F9"/>
          </a:solidFill>
          <a:ln w="12700">
            <a:solidFill>
              <a:srgbClr val="A5D8E6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40080" y="4553712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repositório cresce automaticamente com cada laudo aprovado — o sistema aprende continuamente.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E2A38"/>
          </a:solidFill>
          <a:ln w="12700">
            <a:solidFill>
              <a:srgbClr val="0E2A3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65760" y="48737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Laudifier — Gerador de Laudos Médicos com IA   |   Confidencial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8412480" y="48737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56032"/>
          </a:xfrm>
          <a:prstGeom prst="rect">
            <a:avLst>
              <a:gd name="adj" fmla="val 14286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 MÉDICO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3D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Ditado por voz — sem digitação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2194560" cy="2194560"/>
          </a:xfrm>
          <a:prstGeom prst="oval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600200"/>
            <a:ext cx="1554480" cy="1554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28600" y="777240"/>
            <a:ext cx="3200400" cy="3200400"/>
          </a:xfrm>
          <a:prstGeom prst="oval">
            <a:avLst/>
          </a:prstGeom>
          <a:solidFill>
            <a:srgbClr val="0D6E8A">
              <a:alpha val="2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8580" y="617220"/>
            <a:ext cx="3520440" cy="3520440"/>
          </a:xfrm>
          <a:prstGeom prst="oval">
            <a:avLst/>
          </a:prstGeom>
          <a:solidFill>
            <a:srgbClr val="0D6E8A">
              <a:alpha val="2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-91440" y="457200"/>
            <a:ext cx="3840480" cy="3840480"/>
          </a:xfrm>
          <a:prstGeom prst="oval">
            <a:avLst/>
          </a:prstGeom>
          <a:solidFill>
            <a:srgbClr val="0D6E8A">
              <a:alpha val="2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57600" y="1280160"/>
            <a:ext cx="24688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141732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06240" y="1417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Speech API nativa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794760" y="17830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custo — API nativa do Chrome, Edge e Safari. Sem servidores externos.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0" y="1298448"/>
            <a:ext cx="24688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435608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14356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PT-BR otimizado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6537960" y="180136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 terminologia médica em português com alta precisão.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3657600" y="2633472"/>
            <a:ext cx="24688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4760" y="2788920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206240" y="2788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em tempo real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3794760" y="31546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médico vê o que está sendo transcrito enquanto fala.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6400800" y="2651760"/>
            <a:ext cx="24688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2807208"/>
            <a:ext cx="320040" cy="32004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949440" y="28072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Whisper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6537960" y="317296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browsers sem suporte: áudio enviado ao servidor com modelo 'small'.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3657600" y="4069080"/>
            <a:ext cx="5212080" cy="411480"/>
          </a:xfrm>
          <a:prstGeom prst="rect">
            <a:avLst/>
          </a:prstGeom>
          <a:solidFill>
            <a:srgbClr val="E0F5F9"/>
          </a:solidFill>
          <a:ln w="12700">
            <a:solidFill>
              <a:srgbClr val="A5D8E6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3749040" y="4133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Laudo gerado também pode ser lido em voz alta para revisão (SpeechSynthesis API).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E2A38"/>
          </a:solidFill>
          <a:ln w="12700">
            <a:solidFill>
              <a:srgbClr val="0E2A38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365760" y="48737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Laudifier — Gerador de Laudos Médicos com IA   |   Confidencial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8412480" y="48737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56032"/>
          </a:xfrm>
          <a:prstGeom prst="rect">
            <a:avLst>
              <a:gd name="adj" fmla="val 14286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PERSONALIZAÇÃO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3D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Memória Persistente — Mem0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931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3931920" cy="64008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50876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5087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do Médico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34440" y="18745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 de escrita, nível de detalhe, termos habituais, especialidade.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09160" y="1325880"/>
            <a:ext cx="3931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1325880"/>
            <a:ext cx="393192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150876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15087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Padrões da Especialidade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486400" y="18745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funciona bem para Radiologia, Patologia, Ecocardiografia...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57200" y="2926080"/>
            <a:ext cx="3931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57200" y="2926080"/>
            <a:ext cx="393192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10896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34440" y="3108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Correções Aprendidas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234440" y="34747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edição feita pelo médico é memorizada e aplicada nos próximos laudos.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709160" y="2926080"/>
            <a:ext cx="3931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09160" y="2926080"/>
            <a:ext cx="393192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3108960"/>
            <a:ext cx="502920" cy="5029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86400" y="3108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do Paciente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5486400" y="34747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Exames anteriores são contextualizados automaticamente (se identificado).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57200" y="4553712"/>
            <a:ext cx="8229600" cy="292608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640080" y="457200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Quanto mais o médico usa, mais personalizado e rápido fica o Laudifier — sem configuração manual.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E2A38"/>
          </a:solidFill>
          <a:ln w="12700">
            <a:solidFill>
              <a:srgbClr val="0E2A38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365760" y="48737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Laudifier — Gerador de Laudos Médicos com IA   |   Confidencial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8412480" y="48737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56032"/>
          </a:xfrm>
          <a:prstGeom prst="rect">
            <a:avLst>
              <a:gd name="adj" fmla="val 14286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3D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Especialidades Suportadas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572768" cy="438912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Radiologia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21408" y="1280160"/>
            <a:ext cx="1572768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21408" y="1280160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Tomografia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785616" y="1280160"/>
            <a:ext cx="1572768" cy="438912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85616" y="1280160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Ressonância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49824" y="1280160"/>
            <a:ext cx="1572768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49824" y="1280160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Ultrassonografia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114032" y="1280160"/>
            <a:ext cx="1572768" cy="438912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14032" y="1280160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Ecocardiografia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1792224"/>
            <a:ext cx="1572768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792224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Mamografia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121408" y="1792224"/>
            <a:ext cx="1572768" cy="438912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21408" y="1792224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Patologia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785616" y="1792224"/>
            <a:ext cx="1572768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85616" y="1792224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Anatomia Patológica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49824" y="1792224"/>
            <a:ext cx="1572768" cy="438912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49824" y="1792224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Endoscopia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114032" y="1792224"/>
            <a:ext cx="1572768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14032" y="1792224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Colonoscopia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2304288"/>
            <a:ext cx="1572768" cy="438912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304288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Cardiologia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121408" y="2304288"/>
            <a:ext cx="1572768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21408" y="2304288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Neurologia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785616" y="2304288"/>
            <a:ext cx="1572768" cy="438912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85616" y="2304288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Ortopedia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49824" y="2304288"/>
            <a:ext cx="1572768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49824" y="2304288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Dermatologia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114032" y="2304288"/>
            <a:ext cx="1572768" cy="438912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14032" y="2304288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Ginecologia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solidFill>
            <a:srgbClr val="E0F5F9"/>
          </a:solidFill>
          <a:ln w="12700">
            <a:solidFill>
              <a:srgbClr val="A5D8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4544568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especialidade pode ser adicionada via ingestão de novos laudos de referência.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E2A38"/>
          </a:solidFill>
          <a:ln w="12700">
            <a:solidFill>
              <a:srgbClr val="0E2A3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8737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Laudifier — Gerador de Laudos Médicos com IA   |   Confidencial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412480" y="48737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56032"/>
          </a:xfrm>
          <a:prstGeom prst="rect">
            <a:avLst>
              <a:gd name="adj" fmla="val 14286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3D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Controle de Qualidade e Exportação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de Qualidade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54864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373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 automático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Faithfulness, relevância e recall avaliados a cada resposta.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450592"/>
            <a:ext cx="54864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45059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obrigatórios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6791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Placeholders [NOME], [CRM], [DATA] destacados para preenchimento.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163824"/>
            <a:ext cx="54864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16382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Aprovação do médico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3924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Laudo aprovado → re-indexado no repositório.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877056"/>
            <a:ext cx="54864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87705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 observability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41056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Traces, scores e métricas por médico e especialidade.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1280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Formatos de Exportação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846320" y="1737360"/>
            <a:ext cx="3840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1737360"/>
            <a:ext cx="640080" cy="7315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73736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PDF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577840" y="1874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Formatado, pronto para impressão e assinatura digital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46320" y="2651760"/>
            <a:ext cx="3840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2651760"/>
            <a:ext cx="640080" cy="731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65176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DOCX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577840" y="2788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Editável no Word — fácil personalização de cabeçalho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46320" y="3566160"/>
            <a:ext cx="3840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46320" y="3566160"/>
            <a:ext cx="640080" cy="7315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356616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TXT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577840" y="3703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puro para integração com sistemas de prontuário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E2A38"/>
          </a:solidFill>
          <a:ln w="12700">
            <a:solidFill>
              <a:srgbClr val="0E2A3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8737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Laudifier — Gerador de Laudos Médicos com IA   |   Confidencial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412480" y="48737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56032"/>
          </a:xfrm>
          <a:prstGeom prst="rect">
            <a:avLst>
              <a:gd name="adj" fmla="val 14286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3D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 Tecnológica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06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260604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716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17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Speech API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SpeechSynthesis API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280160"/>
            <a:ext cx="2606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280160"/>
            <a:ext cx="2606040" cy="64008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3716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IA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169164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4.6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280160"/>
            <a:ext cx="2606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280160"/>
            <a:ext cx="260604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3716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26480" y="169164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Mem0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Haiku 4.5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text-embedding-3-small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880360"/>
            <a:ext cx="2606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880360"/>
            <a:ext cx="260604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9718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329184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(HNSW)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text-embedding-3-large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híbrida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46120" y="2880360"/>
            <a:ext cx="2606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2880360"/>
            <a:ext cx="260604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29718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/ Auth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37560" y="329184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Auth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Level Security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35040" y="2880360"/>
            <a:ext cx="2606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35040" y="2880360"/>
            <a:ext cx="260604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29718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26480" y="329184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(frontend)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Fly.io (backend)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CI/CD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E2A38"/>
          </a:solidFill>
          <a:ln w="12700">
            <a:solidFill>
              <a:srgbClr val="0E2A3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8737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Laudifier — Gerador de Laudos Médicos com IA   |   Confidencial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412480" y="48737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56032"/>
          </a:xfrm>
          <a:prstGeom prst="rect">
            <a:avLst>
              <a:gd name="adj" fmla="val 14286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STAKEHOLDERS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3D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 Operacional vs. Benefício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200400" cy="3200400"/>
          </a:xfrm>
          <a:prstGeom prst="rect">
            <a:avLst/>
          </a:prstGeom>
          <a:solidFill>
            <a:srgbClr val="F0FAFA"/>
          </a:solidFill>
          <a:ln w="12700">
            <a:solidFill>
              <a:srgbClr val="D1E9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320040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17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Mensal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1828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(frontend)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0" y="18288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2139696"/>
            <a:ext cx="2834640" cy="45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2128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Fly.io (backend)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0" y="221284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2523744"/>
            <a:ext cx="2834640" cy="45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59689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Cloud (1GB)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0" y="2596896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" y="2907792"/>
            <a:ext cx="2834640" cy="45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98094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0" y="2980944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" y="3291840"/>
            <a:ext cx="2834640" cy="45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3649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(20 laudos)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0" y="336499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~$0,30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4360" y="3675888"/>
            <a:ext cx="2834640" cy="45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749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Embeddings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0" y="37490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~$0,02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94360" y="4059936"/>
            <a:ext cx="2834640" cy="45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" y="4160520"/>
            <a:ext cx="2834640" cy="246888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4160520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~$0,32/mês por médico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931920" y="12801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Economia de Tempo</a:t>
            </a:r>
            <a:endParaRPr lang="en-US" sz="1600" dirty="0"/>
          </a:p>
        </p:txBody>
      </p:sp>
      <p:graphicFrame>
        <p:nvGraphicFramePr>
          <p:cNvPr id="29" name="Chart 0" descr=""/>
          <p:cNvGraphicFramePr/>
          <p:nvPr/>
        </p:nvGraphicFramePr>
        <p:xfrm>
          <a:off x="3931920" y="1691640"/>
          <a:ext cx="466344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0" name="Text 27"/>
          <p:cNvSpPr/>
          <p:nvPr/>
        </p:nvSpPr>
        <p:spPr>
          <a:xfrm>
            <a:off x="3931920" y="4023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Economia de 38 min por laudo = +19 laudos/dia por médico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3931920" y="44074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considerando 20 laudos diários de 40 min cada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E2A38"/>
          </a:solidFill>
          <a:ln w="12700">
            <a:solidFill>
              <a:srgbClr val="0E2A3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65760" y="48737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Laudifier — Gerador de Laudos Médicos com IA   |   Confidencial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8412480" y="48737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8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56032"/>
          </a:xfrm>
          <a:prstGeom prst="rect">
            <a:avLst>
              <a:gd name="adj" fmla="val 14286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DE FUTURO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3D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 de Evolução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14400" y="1371600"/>
            <a:ext cx="457200" cy="457200"/>
          </a:xfrm>
          <a:prstGeom prst="oval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89888" y="1581912"/>
            <a:ext cx="118872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920240"/>
            <a:ext cx="20116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920240"/>
            <a:ext cx="201168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20116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 Atual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2395728"/>
            <a:ext cx="1920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Fallback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Voz PT-BR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Mem0 personalização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PDF/DOCX export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063240" y="1371600"/>
            <a:ext cx="457200" cy="457200"/>
          </a:xfrm>
          <a:prstGeom prst="oval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632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538728" y="1581912"/>
            <a:ext cx="118872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06040" y="1920240"/>
            <a:ext cx="20116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606040" y="1920240"/>
            <a:ext cx="201168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79192" y="20116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v1.5  Q3 2025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79192" y="2395728"/>
            <a:ext cx="1920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HIS/PEP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 digital ICP-Brasil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Multi-usuário por clínica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analytics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212080" y="1371600"/>
            <a:ext cx="457200" cy="457200"/>
          </a:xfrm>
          <a:prstGeom prst="oval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687568" y="1581912"/>
            <a:ext cx="118872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1920240"/>
            <a:ext cx="20116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1920240"/>
            <a:ext cx="2011680" cy="64008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28032" y="20116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  Q1 2026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28032" y="2395728"/>
            <a:ext cx="1920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DICOM/imagens médicas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PACS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mobile iOS/Android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Dream consolidação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360920" y="1371600"/>
            <a:ext cx="457200" cy="457200"/>
          </a:xfrm>
          <a:prstGeom prst="oval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6092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903720" y="1920240"/>
            <a:ext cx="20116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903720" y="1920240"/>
            <a:ext cx="201168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76872" y="20116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v3.0  2026+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976872" y="2395728"/>
            <a:ext cx="1920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por especialidade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Dicionário médico expandido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Sugestão de CID-10 automática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Certificação ANVISA/CFM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E2A38"/>
          </a:solidFill>
          <a:ln w="12700">
            <a:solidFill>
              <a:srgbClr val="0E2A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8737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Laudifier — Gerador de Laudos Médicos com IA   |   Confidencial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412480" y="48737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3D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274320"/>
            <a:ext cx="54864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99832" y="521208"/>
            <a:ext cx="54864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7315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Laudifier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Laudos mais rápidos.</a:t>
            </a: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Médicos mais livres.</a:t>
            </a: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 melhor atendidos.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3154680"/>
            <a:ext cx="7772400" cy="182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291840"/>
            <a:ext cx="2560320" cy="822960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337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60s por laudo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3749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30–45 min manual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29000" y="3291840"/>
            <a:ext cx="2560320" cy="822960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3337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~$0,32/mês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29000" y="3749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operacional total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3291840"/>
            <a:ext cx="2560320" cy="822960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3337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Aprende continuamente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17920" y="3749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cada médico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— Cientista de Dados  |  2025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Laudifier — Gerador de Laudos Médicos com IA</dc:title>
  <dc:subject>PptxGenJS Presentation</dc:subject>
  <dc:creator>Laudifier</dc:creator>
  <cp:lastModifiedBy>Laudifier</cp:lastModifiedBy>
  <cp:revision>1</cp:revision>
  <dcterms:created xsi:type="dcterms:W3CDTF">2026-03-26T19:10:44Z</dcterms:created>
  <dcterms:modified xsi:type="dcterms:W3CDTF">2026-03-26T19:10:44Z</dcterms:modified>
</cp:coreProperties>
</file>